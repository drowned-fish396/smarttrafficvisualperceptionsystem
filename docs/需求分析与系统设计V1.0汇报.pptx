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72" r:id="rId13"/>
    <p:sldId id="269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45" d="100"/>
          <a:sy n="45" d="100"/>
        </p:scale>
        <p:origin x="1982" y="8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44168" y="2304288"/>
            <a:ext cx="93085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dirty="0" err="1">
                <a:solidFill>
                  <a:srgbClr val="000000"/>
                </a:solidFill>
                <a:latin typeface="Microsoft YaHei"/>
              </a:rPr>
              <a:t>云边端协同智慧交通视觉感知系统</a:t>
            </a:r>
            <a:endParaRPr sz="4400" b="1" dirty="0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7220" y="3784272"/>
            <a:ext cx="10972800" cy="11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zh-CN" altLang="en-US" sz="1700" dirty="0">
                <a:solidFill>
                  <a:srgbClr val="000000"/>
                </a:solidFill>
                <a:latin typeface="Microsoft YaHei"/>
              </a:rPr>
              <a:t>                                                                        </a:t>
            </a:r>
            <a:r>
              <a:rPr lang="zh-CN" altLang="en-US" sz="3200" dirty="0">
                <a:solidFill>
                  <a:srgbClr val="000000"/>
                </a:solidFill>
                <a:latin typeface="Microsoft YaHei"/>
              </a:rPr>
              <a:t>第</a:t>
            </a:r>
            <a:r>
              <a:rPr lang="en-US" altLang="zh-CN" sz="3200" dirty="0">
                <a:solidFill>
                  <a:srgbClr val="000000"/>
                </a:solidFill>
                <a:latin typeface="Microsoft YaHei"/>
              </a:rPr>
              <a:t>8</a:t>
            </a:r>
            <a:r>
              <a:rPr lang="zh-CN" altLang="en-US" sz="3200" dirty="0">
                <a:solidFill>
                  <a:srgbClr val="000000"/>
                </a:solidFill>
                <a:latin typeface="Microsoft YaHei"/>
              </a:rPr>
              <a:t>组</a:t>
            </a:r>
            <a:endParaRPr lang="en-US" altLang="zh-CN" sz="3200" dirty="0">
              <a:solidFill>
                <a:srgbClr val="000000"/>
              </a:solidFill>
              <a:latin typeface="Microsoft YaHei"/>
            </a:endParaRPr>
          </a:p>
          <a:p>
            <a:pPr>
              <a:spcAft>
                <a:spcPts val="800"/>
              </a:spcAft>
            </a:pPr>
            <a:r>
              <a:rPr lang="zh-CN" altLang="en-US" sz="3200" dirty="0">
                <a:solidFill>
                  <a:srgbClr val="000000"/>
                </a:solidFill>
                <a:latin typeface="Microsoft YaHei"/>
              </a:rPr>
              <a:t>                          李明轩 谷友瑄 刘凡瑜</a:t>
            </a:r>
            <a:endParaRPr sz="3200" b="0" dirty="0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67434" y="6446520"/>
            <a:ext cx="243688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dirty="0" err="1">
                <a:solidFill>
                  <a:srgbClr val="000000"/>
                </a:solidFill>
                <a:latin typeface="Microsoft YaHei"/>
              </a:rPr>
              <a:t>需求分析报告</a:t>
            </a:r>
            <a:r>
              <a:rPr sz="900" b="0" dirty="0">
                <a:solidFill>
                  <a:srgbClr val="000000"/>
                </a:solidFill>
                <a:latin typeface="Microsoft YaHei"/>
              </a:rPr>
              <a:t> V1.0 / </a:t>
            </a:r>
            <a:r>
              <a:rPr sz="900" b="0" dirty="0" err="1">
                <a:solidFill>
                  <a:srgbClr val="000000"/>
                </a:solidFill>
                <a:latin typeface="Microsoft YaHei"/>
              </a:rPr>
              <a:t>系统设计方案</a:t>
            </a:r>
            <a:r>
              <a:rPr sz="900" b="0" dirty="0">
                <a:solidFill>
                  <a:srgbClr val="000000"/>
                </a:solidFill>
                <a:latin typeface="Microsoft YaHei"/>
              </a:rPr>
              <a:t> V1.0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Microsoft YaHei"/>
              </a:rPr>
              <a:t>项目目标与演示闭环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98704"/>
            <a:ext cx="1097280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项目目标：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完成从手机视频采集、视频传输、云端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分析、前端展示到历史查询的完整链路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核心闭环：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边端采集视频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-&gt;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云端接收与分析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-&gt;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前端实时展示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-&gt;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数据持久化与历史查询。</a:t>
            </a: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演示场景：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优先面向学院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704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智慧交通沙盘，也可兼容校园道路或校外道路画面。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车牌识别与白名单比对</a:t>
            </a:r>
          </a:p>
          <a:p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系统应对视频画面中的车辆进行车牌检测与识别，提取车牌号码、车牌位置和识别置信度，并与本地白名单车辆库进行比对。比对结果应输出“允许通行”或“未授权”等决策结果前端应展示模拟闸机通行决策。</a:t>
            </a:r>
          </a:p>
          <a:p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车辆识别与拥堵热力图</a:t>
            </a:r>
          </a:p>
          <a:p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系统应检测视频画面中的车辆目标，统计不同道路区域内的车辆数量和密度等级，并动态生成拥堵热力图。拥堵热力图应能够直观展示 视频内容中道路区域的拥堵趋势，为监控展示和历史统计提供依据。</a:t>
            </a:r>
          </a:p>
          <a:p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禁停区域车辆跟踪</a:t>
            </a:r>
          </a:p>
          <a:p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应支持配置禁停区域，对进入禁停区域的车辆进行持续跟踪，记录车辆进入时间、当前位置、停留时长和跟踪标识。当车辆在禁停区域内停留超过预设阈值时，系统应生成长时间停留告警，并在前端突出显示。</a:t>
            </a:r>
          </a:p>
          <a:p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道路异常检测</a:t>
            </a:r>
          </a:p>
          <a:p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系统应检测道路区域内不应存在的异常物体或异常事件，例如障碍物、掉落物、静止异常目标等。发现异常后，系统应生成告警事件，标注异常位置、置信度、影响区域和受影响车道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要求开放类别异常检测。</a:t>
            </a:r>
          </a:p>
          <a:p>
            <a:pPr>
              <a:spcAft>
                <a:spcPts val="800"/>
              </a:spcAft>
            </a:pPr>
            <a:endParaRPr sz="1700" b="0" dirty="0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67434" y="6446520"/>
            <a:ext cx="243688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dirty="0" err="1">
                <a:solidFill>
                  <a:srgbClr val="000000"/>
                </a:solidFill>
                <a:latin typeface="Microsoft YaHei"/>
              </a:rPr>
              <a:t>需求分析报告</a:t>
            </a:r>
            <a:r>
              <a:rPr sz="900" b="0" dirty="0">
                <a:solidFill>
                  <a:srgbClr val="000000"/>
                </a:solidFill>
                <a:latin typeface="Microsoft YaHei"/>
              </a:rPr>
              <a:t> V1.0 / </a:t>
            </a:r>
            <a:r>
              <a:rPr sz="900" b="0" dirty="0" err="1">
                <a:solidFill>
                  <a:srgbClr val="000000"/>
                </a:solidFill>
                <a:latin typeface="Microsoft YaHei"/>
              </a:rPr>
              <a:t>系统设计方案</a:t>
            </a:r>
            <a:r>
              <a:rPr sz="900" b="0" dirty="0">
                <a:solidFill>
                  <a:srgbClr val="000000"/>
                </a:solidFill>
                <a:latin typeface="Microsoft YaHei"/>
              </a:rPr>
              <a:t> V1.0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Microsoft YaHei"/>
              </a:rPr>
              <a:t>需求分析用例图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7434" y="6446520"/>
            <a:ext cx="243688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dirty="0" err="1">
                <a:solidFill>
                  <a:srgbClr val="000000"/>
                </a:solidFill>
                <a:latin typeface="Microsoft YaHei"/>
              </a:rPr>
              <a:t>需求分析报告</a:t>
            </a:r>
            <a:r>
              <a:rPr sz="900" b="0" dirty="0">
                <a:solidFill>
                  <a:srgbClr val="000000"/>
                </a:solidFill>
                <a:latin typeface="Microsoft YaHei"/>
              </a:rPr>
              <a:t> V1.0 / </a:t>
            </a:r>
            <a:r>
              <a:rPr sz="900" b="0" dirty="0" err="1">
                <a:solidFill>
                  <a:srgbClr val="000000"/>
                </a:solidFill>
                <a:latin typeface="Microsoft YaHei"/>
              </a:rPr>
              <a:t>系统设计方案</a:t>
            </a:r>
            <a:r>
              <a:rPr sz="900" b="0" dirty="0">
                <a:solidFill>
                  <a:srgbClr val="000000"/>
                </a:solidFill>
                <a:latin typeface="Microsoft YaHei"/>
              </a:rPr>
              <a:t> V1.0    3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A399A53-5495-9849-B6D6-A5B928AE5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91371"/>
            <a:ext cx="8025577" cy="55952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Microsoft YaHei"/>
              </a:rPr>
              <a:t>关键需求决策总览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36271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icrosoft YaHei"/>
              </a:rPr>
              <a:t>关键问题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1097280"/>
            <a:ext cx="36271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icrosoft YaHei"/>
              </a:rPr>
              <a:t>核心决策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7894320" y="1097280"/>
            <a:ext cx="36271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icrosoft YaHei"/>
              </a:rPr>
              <a:t>解决的主要风险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36271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Microsoft YaHei"/>
              </a:rPr>
              <a:t>数据传输方式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7200" y="1600200"/>
            <a:ext cx="36271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Microsoft YaHei"/>
              </a:rPr>
              <a:t>RTSP/RTMP + REST API + WebSocket + HTTP 上传</a:t>
            </a:r>
          </a:p>
        </p:txBody>
      </p:sp>
      <p:sp>
        <p:nvSpPr>
          <p:cNvPr id="8" name="Rectangle 7"/>
          <p:cNvSpPr/>
          <p:nvPr/>
        </p:nvSpPr>
        <p:spPr>
          <a:xfrm>
            <a:off x="7894320" y="1600200"/>
            <a:ext cx="36271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Microsoft YaHei"/>
              </a:rPr>
              <a:t>避免单一协议承载所有数据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36271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Microsoft YaHei"/>
              </a:rPr>
              <a:t>实时性与连续性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7200" y="2103120"/>
            <a:ext cx="36271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Microsoft YaHei"/>
              </a:rPr>
              <a:t>实时流优先，抽帧分析，视频段与模拟结果兜底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94320" y="2103120"/>
            <a:ext cx="36271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Microsoft YaHei"/>
              </a:rPr>
              <a:t>网络、算力或模型不稳定导致演示中断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06040"/>
            <a:ext cx="36271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Microsoft YaHei"/>
              </a:rPr>
              <a:t>车牌数字识别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7200" y="2606040"/>
            <a:ext cx="36271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Microsoft YaHei"/>
              </a:rPr>
              <a:t>YOLO 定位车牌，PaddleOCR 识别完整车牌并提取数字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94320" y="2606040"/>
            <a:ext cx="36271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Microsoft YaHei"/>
              </a:rPr>
              <a:t>车牌模糊、误识别和白名单比对不可信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108960"/>
            <a:ext cx="36271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Microsoft YaHei"/>
              </a:rPr>
              <a:t>热力图形式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7200" y="3108960"/>
            <a:ext cx="36271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Microsoft YaHei"/>
              </a:rPr>
              <a:t>分区密度热力图 + 时间窗口统计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94320" y="3108960"/>
            <a:ext cx="36271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Microsoft YaHei"/>
              </a:rPr>
              <a:t>热力图只有装饰效果、缺少统计依据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611880"/>
            <a:ext cx="36271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dirty="0" err="1">
                <a:solidFill>
                  <a:srgbClr val="000000"/>
                </a:solidFill>
                <a:latin typeface="Microsoft YaHei"/>
              </a:rPr>
              <a:t>跟踪与异常检测</a:t>
            </a:r>
            <a:endParaRPr sz="1300" b="0" dirty="0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267200" y="3611880"/>
            <a:ext cx="36271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CN" altLang="en-US" sz="1300" b="1" dirty="0">
                <a:solidFill>
                  <a:srgbClr val="000000"/>
                </a:solidFill>
                <a:latin typeface="Microsoft YaHei"/>
              </a:rPr>
              <a:t>车辆跟踪</a:t>
            </a:r>
            <a:r>
              <a:rPr lang="zh-CN" altLang="en-US" sz="1300" dirty="0">
                <a:solidFill>
                  <a:srgbClr val="000000"/>
                </a:solidFill>
                <a:latin typeface="Microsoft YaHei"/>
              </a:rPr>
              <a:t>：</a:t>
            </a:r>
            <a:r>
              <a:rPr sz="1300" b="0" dirty="0">
                <a:solidFill>
                  <a:srgbClr val="000000"/>
                </a:solidFill>
                <a:latin typeface="Microsoft YaHei"/>
              </a:rPr>
              <a:t>YOLO + </a:t>
            </a:r>
            <a:r>
              <a:rPr sz="1300" b="0" dirty="0" err="1">
                <a:solidFill>
                  <a:srgbClr val="000000"/>
                </a:solidFill>
                <a:latin typeface="Microsoft YaHei"/>
              </a:rPr>
              <a:t>ByteTrack</a:t>
            </a:r>
            <a:r>
              <a:rPr sz="1300" b="0" dirty="0">
                <a:solidFill>
                  <a:srgbClr val="000000"/>
                </a:solidFill>
                <a:latin typeface="Microsoft YaHei"/>
              </a:rPr>
              <a:t>；</a:t>
            </a:r>
            <a:endParaRPr lang="en-US" sz="1300" b="0" dirty="0">
              <a:solidFill>
                <a:srgbClr val="000000"/>
              </a:solidFill>
              <a:latin typeface="Microsoft YaHei"/>
            </a:endParaRPr>
          </a:p>
          <a:p>
            <a:pPr algn="ctr"/>
            <a:r>
              <a:rPr lang="zh-CN" altLang="en-US" sz="1300" b="1" dirty="0">
                <a:solidFill>
                  <a:srgbClr val="000000"/>
                </a:solidFill>
                <a:latin typeface="Microsoft YaHei"/>
              </a:rPr>
              <a:t>异常检测</a:t>
            </a:r>
            <a:r>
              <a:rPr lang="zh-CN" altLang="en-US" sz="1300" b="0" dirty="0">
                <a:solidFill>
                  <a:srgbClr val="000000"/>
                </a:solidFill>
                <a:latin typeface="Microsoft YaHei"/>
              </a:rPr>
              <a:t>：</a:t>
            </a:r>
            <a:r>
              <a:rPr sz="1300" b="0" dirty="0" err="1">
                <a:solidFill>
                  <a:srgbClr val="000000"/>
                </a:solidFill>
                <a:latin typeface="Microsoft YaHei"/>
              </a:rPr>
              <a:t>FastFlow</a:t>
            </a:r>
            <a:r>
              <a:rPr sz="1300" b="0" dirty="0">
                <a:solidFill>
                  <a:srgbClr val="000000"/>
                </a:solidFill>
                <a:latin typeface="Microsoft YaHei"/>
              </a:rPr>
              <a:t> + </a:t>
            </a:r>
            <a:r>
              <a:rPr sz="1300" b="0" dirty="0" err="1">
                <a:solidFill>
                  <a:srgbClr val="000000"/>
                </a:solidFill>
                <a:latin typeface="Microsoft YaHei"/>
              </a:rPr>
              <a:t>规则检测</a:t>
            </a:r>
            <a:endParaRPr sz="1300" b="0" dirty="0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894320" y="3611880"/>
            <a:ext cx="36271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Microsoft YaHei"/>
              </a:rPr>
              <a:t>禁停无法持续计时、未知异常类别难以穷举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7434" y="6446520"/>
            <a:ext cx="243688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dirty="0" err="1">
                <a:solidFill>
                  <a:srgbClr val="000000"/>
                </a:solidFill>
                <a:latin typeface="Microsoft YaHei"/>
              </a:rPr>
              <a:t>需求分析报告</a:t>
            </a:r>
            <a:r>
              <a:rPr sz="900" b="0" dirty="0">
                <a:solidFill>
                  <a:srgbClr val="000000"/>
                </a:solidFill>
                <a:latin typeface="Microsoft YaHei"/>
              </a:rPr>
              <a:t> V1.0 / </a:t>
            </a:r>
            <a:r>
              <a:rPr sz="900" b="0" dirty="0" err="1">
                <a:solidFill>
                  <a:srgbClr val="000000"/>
                </a:solidFill>
                <a:latin typeface="Microsoft YaHei"/>
              </a:rPr>
              <a:t>系统设计方案</a:t>
            </a:r>
            <a:r>
              <a:rPr sz="900" b="0" dirty="0">
                <a:solidFill>
                  <a:srgbClr val="000000"/>
                </a:solidFill>
                <a:latin typeface="Microsoft YaHei"/>
              </a:rPr>
              <a:t> V1.0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Microsoft YaHei"/>
              </a:rPr>
              <a:t>决策 1：数据传输方式权衡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36271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icrosoft YaHei"/>
              </a:rPr>
              <a:t>数据类型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1097280"/>
            <a:ext cx="36271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icrosoft YaHei"/>
              </a:rPr>
              <a:t>选择方式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7894320" y="1097280"/>
            <a:ext cx="36271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Microsoft YaHei"/>
              </a:rPr>
              <a:t>原因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36271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Microsoft YaHei"/>
              </a:rPr>
              <a:t>实时视频流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7200" y="1600200"/>
            <a:ext cx="36271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Microsoft YaHei"/>
              </a:rPr>
              <a:t>RTSP/RTMP</a:t>
            </a:r>
          </a:p>
        </p:txBody>
      </p:sp>
      <p:sp>
        <p:nvSpPr>
          <p:cNvPr id="8" name="Rectangle 7"/>
          <p:cNvSpPr/>
          <p:nvPr/>
        </p:nvSpPr>
        <p:spPr>
          <a:xfrm>
            <a:off x="7894320" y="1600200"/>
            <a:ext cx="36271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Microsoft YaHei"/>
              </a:rPr>
              <a:t>视频数据体量大、连续性强，适合边端向云端推送或云端拉流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36271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Microsoft YaHei"/>
              </a:rPr>
              <a:t>设备注册、心跳、配置、查询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7200" y="2103120"/>
            <a:ext cx="36271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Microsoft YaHei"/>
              </a:rPr>
              <a:t>REST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94320" y="2103120"/>
            <a:ext cx="36271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Microsoft YaHei"/>
              </a:rPr>
              <a:t>请求响应清晰，便于接口测试、权限控制和文档维护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06040"/>
            <a:ext cx="36271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dirty="0" err="1">
                <a:solidFill>
                  <a:srgbClr val="000000"/>
                </a:solidFill>
                <a:latin typeface="Microsoft YaHei"/>
              </a:rPr>
              <a:t>检测框、车牌、热力图、告警、状态</a:t>
            </a:r>
            <a:endParaRPr sz="1300" b="0" dirty="0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267200" y="2606040"/>
            <a:ext cx="36271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Microsoft YaHei"/>
              </a:rPr>
              <a:t>WebSocket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94320" y="2606040"/>
            <a:ext cx="36271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Microsoft YaHei"/>
              </a:rPr>
              <a:t>云端主动推送，减少前端轮询开销，保证监控页面及时刷新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108960"/>
            <a:ext cx="36271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dirty="0" err="1">
                <a:solidFill>
                  <a:srgbClr val="000000"/>
                </a:solidFill>
                <a:latin typeface="Microsoft YaHei"/>
              </a:rPr>
              <a:t>实时流异常输入</a:t>
            </a:r>
            <a:endParaRPr sz="1300" b="0" dirty="0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267200" y="3108960"/>
            <a:ext cx="36271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Microsoft YaHei"/>
              </a:rPr>
              <a:t>HTTP 视频上传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94320" y="3108960"/>
            <a:ext cx="36271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Microsoft YaHei"/>
              </a:rPr>
              <a:t>网络或推流环境不稳定时，保证分析和展示流程继续运行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7434" y="6446520"/>
            <a:ext cx="243688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dirty="0" err="1">
                <a:solidFill>
                  <a:srgbClr val="000000"/>
                </a:solidFill>
                <a:latin typeface="Microsoft YaHei"/>
              </a:rPr>
              <a:t>需求分析报告</a:t>
            </a:r>
            <a:r>
              <a:rPr sz="900" b="0" dirty="0">
                <a:solidFill>
                  <a:srgbClr val="000000"/>
                </a:solidFill>
                <a:latin typeface="Microsoft YaHei"/>
              </a:rPr>
              <a:t> V1.0 / </a:t>
            </a:r>
            <a:r>
              <a:rPr sz="900" b="0" dirty="0" err="1">
                <a:solidFill>
                  <a:srgbClr val="000000"/>
                </a:solidFill>
                <a:latin typeface="Microsoft YaHei"/>
              </a:rPr>
              <a:t>系统设计方案</a:t>
            </a:r>
            <a:r>
              <a:rPr sz="900" b="0" dirty="0">
                <a:solidFill>
                  <a:srgbClr val="000000"/>
                </a:solidFill>
                <a:latin typeface="Microsoft YaHei"/>
              </a:rPr>
              <a:t> V1.0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Microsoft YaHei"/>
              </a:rPr>
              <a:t>决策 2：实时性与连续性权衡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972800" cy="3621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总体思路：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实时视频流优先，抽帧分析保障处理效率，视频段上传保障流程连续性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80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主解决方案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边端手机优先推送实时</a:t>
            </a:r>
            <a:r>
              <a:rPr lang="en-US" altLang="zh-CN"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RTSP</a:t>
            </a:r>
            <a:r>
              <a:rPr lang="en-US" altLang="zh-CN"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RTMP</a:t>
            </a: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视频流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云端服务接收视频流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后，</a:t>
            </a: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云端</a:t>
            </a:r>
            <a:r>
              <a:rPr lang="zh-CN" altLang="en-US"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连续拉流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、按帧抽取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实时</a:t>
            </a:r>
            <a:r>
              <a:rPr lang="zh-CN" altLang="en-US"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推理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生成车辆检测、车牌识别、拥堵热力图、禁停跟踪和道路异常检测结果，并通过 WebSocket 将结构化结果推送至前端展示端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端到端延迟目标为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1-2 </a:t>
            </a: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秒，理想分析帧率目标为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15-30 FPS。</a:t>
            </a:r>
          </a:p>
          <a:p>
            <a:pPr>
              <a:spcAft>
                <a:spcPts val="80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次解决方案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硬件算力不足时</a:t>
            </a:r>
            <a:r>
              <a:rPr lang="zh-CN" altLang="en-US"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或网络波动时</a:t>
            </a: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降低抽帧频率、缩小输入分辨率、切换轻量模型，控制在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-15 FPS </a:t>
            </a: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范围内保持连续展示。实时流中断或推流条件不满足时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</a:t>
            </a: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视频段上传进入同一套分析任务流程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67434" y="6446520"/>
            <a:ext cx="243688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dirty="0" err="1">
                <a:solidFill>
                  <a:srgbClr val="000000"/>
                </a:solidFill>
                <a:latin typeface="Microsoft YaHei"/>
              </a:rPr>
              <a:t>需求分析报告</a:t>
            </a:r>
            <a:r>
              <a:rPr sz="900" b="0" dirty="0">
                <a:solidFill>
                  <a:srgbClr val="000000"/>
                </a:solidFill>
                <a:latin typeface="Microsoft YaHei"/>
              </a:rPr>
              <a:t> V1.0 / </a:t>
            </a:r>
            <a:r>
              <a:rPr sz="900" b="0" dirty="0" err="1">
                <a:solidFill>
                  <a:srgbClr val="000000"/>
                </a:solidFill>
                <a:latin typeface="Microsoft YaHei"/>
              </a:rPr>
              <a:t>系统设计方案</a:t>
            </a:r>
            <a:r>
              <a:rPr sz="900" b="0" dirty="0">
                <a:solidFill>
                  <a:srgbClr val="000000"/>
                </a:solidFill>
                <a:latin typeface="Microsoft YaHei"/>
              </a:rPr>
              <a:t> V1.0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Microsoft YaHei"/>
              </a:rPr>
              <a:t>决策 3：车牌识别如何识别数字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972800" cy="4729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技术路线：YOLO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车牌定位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PaddleOCR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字符识别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车牌规则校验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spcAft>
                <a:spcPts val="800"/>
              </a:spcAft>
            </a:pP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处理流程：视频帧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-&gt; </a:t>
            </a:r>
            <a:r>
              <a:rPr lang="en-US" altLang="zh-CN"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YOLO</a:t>
            </a: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车辆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车牌检测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-&gt; </a:t>
            </a: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车牌区域裁剪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-&gt; </a:t>
            </a: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图像增强与校正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-&gt; </a:t>
            </a: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PaddleOCR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输出完整车牌字符串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数字识别方式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PaddleOCR 负责识别车牌中的中文省份简称、英文字母和数字字符，并输出完整车牌字符串及识别置信度。系统从 PaddleOCR 输出结果中提取数字字符，同时保留完整车牌号码，用于白名单比对、闸机通行决策展示和历史记录保存。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另外车牌号码格式基本固定，系统要</a:t>
            </a: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结合长度校验、字符类别校验和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OCR </a:t>
            </a: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置信度阈值，提高白名单比对结果可信度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24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PS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sz="24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异常处理：车牌过小、模糊、遮挡或置信度不足时标记为“</a:t>
            </a: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需人工确认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”，</a:t>
            </a: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演示模式可使用预设样例结果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7434" y="6515100"/>
            <a:ext cx="243688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dirty="0" err="1">
                <a:solidFill>
                  <a:srgbClr val="000000"/>
                </a:solidFill>
                <a:latin typeface="Microsoft YaHei"/>
              </a:rPr>
              <a:t>需求分析报告</a:t>
            </a:r>
            <a:r>
              <a:rPr sz="900" b="0" dirty="0">
                <a:solidFill>
                  <a:srgbClr val="000000"/>
                </a:solidFill>
                <a:latin typeface="Microsoft YaHei"/>
              </a:rPr>
              <a:t> V1.0 / </a:t>
            </a:r>
            <a:r>
              <a:rPr sz="900" b="0" dirty="0" err="1">
                <a:solidFill>
                  <a:srgbClr val="000000"/>
                </a:solidFill>
                <a:latin typeface="Microsoft YaHei"/>
              </a:rPr>
              <a:t>系统设计方案</a:t>
            </a:r>
            <a:r>
              <a:rPr sz="900" b="0" dirty="0">
                <a:solidFill>
                  <a:srgbClr val="000000"/>
                </a:solidFill>
                <a:latin typeface="Microsoft YaHei"/>
              </a:rPr>
              <a:t> V1.0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Microsoft YaHei"/>
              </a:rPr>
              <a:t>决策 4：热力图形式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972800" cy="3929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热力图方案：采用分区密度热力图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区域密度规则 + 时间窗口统计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技术理念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800"/>
              </a:spcAft>
            </a:pPr>
            <a:endParaRPr sz="24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800"/>
              </a:spcAft>
            </a:pPr>
            <a:r>
              <a:rPr lang="en-US"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区域划分：将 704 </a:t>
            </a: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沙盘道路划分为入口区、路口区、闸机等待区、转弯区、禁停区域周边等检测区域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spcAft>
                <a:spcPts val="800"/>
              </a:spcAft>
            </a:pPr>
            <a:r>
              <a:rPr lang="en-US"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统计依据：根据 YOLO </a:t>
            </a: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车辆检测框中心点所属区域统计车辆数量，并用“区域车辆数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 </a:t>
            </a: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区域容量”计算密度等级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spcAft>
                <a:spcPts val="800"/>
              </a:spcAft>
            </a:pP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稳定策略：结合时间窗口统计，降低单帧误检或漏检造成的热力图抖动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spcAft>
                <a:spcPts val="800"/>
              </a:spcAft>
            </a:pP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前端展示：视频底图层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半透明热力覆盖层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区域名称、车辆数、趋势箭头和持续时间标注层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7434" y="6446520"/>
            <a:ext cx="243688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dirty="0" err="1">
                <a:solidFill>
                  <a:srgbClr val="000000"/>
                </a:solidFill>
                <a:latin typeface="Microsoft YaHei"/>
              </a:rPr>
              <a:t>需求分析报告</a:t>
            </a:r>
            <a:r>
              <a:rPr sz="900" b="0" dirty="0">
                <a:solidFill>
                  <a:srgbClr val="000000"/>
                </a:solidFill>
                <a:latin typeface="Microsoft YaHei"/>
              </a:rPr>
              <a:t> V1.0 / </a:t>
            </a:r>
            <a:r>
              <a:rPr sz="900" b="0" dirty="0" err="1">
                <a:solidFill>
                  <a:srgbClr val="000000"/>
                </a:solidFill>
                <a:latin typeface="Microsoft YaHei"/>
              </a:rPr>
              <a:t>系统设计方案</a:t>
            </a:r>
            <a:r>
              <a:rPr sz="900" b="0" dirty="0">
                <a:solidFill>
                  <a:srgbClr val="000000"/>
                </a:solidFill>
                <a:latin typeface="Microsoft YaHei"/>
              </a:rPr>
              <a:t> V1.0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Microsoft YaHei"/>
              </a:rPr>
              <a:t>决策 5：车辆跟踪模型与异常检测模型选择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972800" cy="4565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禁停跟踪路线：YOLO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车辆检测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ByteTrack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跟踪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禁停区域规则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spcAft>
                <a:spcPts val="800"/>
              </a:spcAft>
            </a:pP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选择理由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YOLO 提供逐帧车辆检测框，ByteTrack 根据检测框在连续帧中的位置变化为车辆分配跟踪 ID，禁停区域规则负责判断车辆是否进入禁停区域并计算停留时长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禁停判断需要识别同一车辆的持续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ID、进入时间、当前位置和停留时长，单帧检测无法完成持续计时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spcAft>
                <a:spcPts val="800"/>
              </a:spcAft>
            </a:pP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告警逻辑：车辆在禁停区域内停留超过预设阈值时，生成长时间停留告警，并展示轨迹、跟踪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ID </a:t>
            </a: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和告警级别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spcAft>
                <a:spcPts val="800"/>
              </a:spcAft>
            </a:pP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异常检测路线：FastFlow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异常检测模型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规则检测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spcAft>
                <a:spcPts val="800"/>
              </a:spcAft>
            </a:pPr>
            <a:r>
              <a:rPr sz="2400" b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选择理由：道路异常物体可能未知，难以提前穷举类别，因此不把常规目标检测作为异常检测主方案</a:t>
            </a:r>
            <a:r>
              <a:rPr sz="24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规则检测可基于固定摄像头视角、道路区域掩膜、背景差分、静止区域变化、异常面积阈值和持续时间阈值判断疑似异常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7434" y="6446520"/>
            <a:ext cx="243688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dirty="0" err="1">
                <a:solidFill>
                  <a:srgbClr val="000000"/>
                </a:solidFill>
                <a:latin typeface="Microsoft YaHei"/>
              </a:rPr>
              <a:t>需求分析报告</a:t>
            </a:r>
            <a:r>
              <a:rPr sz="900" b="0" dirty="0">
                <a:solidFill>
                  <a:srgbClr val="000000"/>
                </a:solidFill>
                <a:latin typeface="Microsoft YaHei"/>
              </a:rPr>
              <a:t> V1.0 / </a:t>
            </a:r>
            <a:r>
              <a:rPr sz="900" b="0" dirty="0" err="1">
                <a:solidFill>
                  <a:srgbClr val="000000"/>
                </a:solidFill>
                <a:latin typeface="Microsoft YaHei"/>
              </a:rPr>
              <a:t>系统设计方案</a:t>
            </a:r>
            <a:r>
              <a:rPr sz="900" b="0" dirty="0">
                <a:solidFill>
                  <a:srgbClr val="000000"/>
                </a:solidFill>
                <a:latin typeface="Microsoft YaHei"/>
              </a:rPr>
              <a:t> V1.0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8517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zh-CN" altLang="en-US" sz="2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总体</a:t>
            </a:r>
            <a:r>
              <a:rPr sz="2600" b="1" dirty="0" err="1">
                <a:solidFill>
                  <a:srgbClr val="000000"/>
                </a:solidFill>
                <a:latin typeface="Microsoft YaHei"/>
              </a:rPr>
              <a:t>架构图</a:t>
            </a:r>
            <a:endParaRPr sz="2600" b="1" dirty="0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00108" y="6446520"/>
            <a:ext cx="250421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dirty="0" err="1">
                <a:solidFill>
                  <a:srgbClr val="000000"/>
                </a:solidFill>
                <a:latin typeface="Microsoft YaHei"/>
              </a:rPr>
              <a:t>需求分析报告</a:t>
            </a:r>
            <a:r>
              <a:rPr sz="900" b="0" dirty="0">
                <a:solidFill>
                  <a:srgbClr val="000000"/>
                </a:solidFill>
                <a:latin typeface="Microsoft YaHei"/>
              </a:rPr>
              <a:t> V1.0 / </a:t>
            </a:r>
            <a:r>
              <a:rPr sz="900" b="0" dirty="0" err="1">
                <a:solidFill>
                  <a:srgbClr val="000000"/>
                </a:solidFill>
                <a:latin typeface="Microsoft YaHei"/>
              </a:rPr>
              <a:t>系统设计方案</a:t>
            </a:r>
            <a:r>
              <a:rPr sz="900" b="0" dirty="0">
                <a:solidFill>
                  <a:srgbClr val="000000"/>
                </a:solidFill>
                <a:latin typeface="Microsoft YaHei"/>
              </a:rPr>
              <a:t> V1.0    10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584358A-F44C-37CD-75E1-9ECBD0792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233778"/>
            <a:ext cx="10542938" cy="532704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7573ED9-19B9-3D52-FE40-5163690D316B}"/>
              </a:ext>
            </a:extLst>
          </p:cNvPr>
          <p:cNvSpPr txBox="1"/>
          <p:nvPr/>
        </p:nvSpPr>
        <p:spPr>
          <a:xfrm>
            <a:off x="506861" y="869049"/>
            <a:ext cx="5596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系统总体</a:t>
            </a:r>
            <a:r>
              <a:rPr lang="zh-CN" altLang="zh-CN" dirty="0"/>
              <a:t>采用云边端协同的分层模块化架构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D5180-FBC8-BB94-8FE1-CCAC9BA55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416F9E-1A1B-A6B4-894D-09C406D4B4C2}"/>
              </a:ext>
            </a:extLst>
          </p:cNvPr>
          <p:cNvSpPr txBox="1"/>
          <p:nvPr/>
        </p:nvSpPr>
        <p:spPr>
          <a:xfrm>
            <a:off x="502920" y="228600"/>
            <a:ext cx="18517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zh-CN" altLang="en-US" sz="2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前端模块</a:t>
            </a:r>
            <a:r>
              <a:rPr sz="2600" b="1" dirty="0">
                <a:solidFill>
                  <a:srgbClr val="000000"/>
                </a:solidFill>
                <a:latin typeface="Microsoft YaHei"/>
              </a:rPr>
              <a:t>图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07F49E-EC36-FD43-6DBD-D748C38B4F21}"/>
              </a:ext>
            </a:extLst>
          </p:cNvPr>
          <p:cNvSpPr txBox="1"/>
          <p:nvPr/>
        </p:nvSpPr>
        <p:spPr>
          <a:xfrm>
            <a:off x="9150416" y="6446520"/>
            <a:ext cx="255390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dirty="0" err="1">
                <a:solidFill>
                  <a:srgbClr val="000000"/>
                </a:solidFill>
                <a:latin typeface="Microsoft YaHei"/>
              </a:rPr>
              <a:t>需求分析报告</a:t>
            </a:r>
            <a:r>
              <a:rPr sz="900" b="0" dirty="0">
                <a:solidFill>
                  <a:srgbClr val="000000"/>
                </a:solidFill>
                <a:latin typeface="Microsoft YaHei"/>
              </a:rPr>
              <a:t> V1.0 / </a:t>
            </a:r>
            <a:r>
              <a:rPr sz="900" b="0" dirty="0" err="1">
                <a:solidFill>
                  <a:srgbClr val="000000"/>
                </a:solidFill>
                <a:latin typeface="Microsoft YaHei"/>
              </a:rPr>
              <a:t>系统设计方案</a:t>
            </a:r>
            <a:r>
              <a:rPr sz="900" b="0" dirty="0">
                <a:solidFill>
                  <a:srgbClr val="000000"/>
                </a:solidFill>
                <a:latin typeface="Microsoft YaHei"/>
              </a:rPr>
              <a:t> V1.0    1</a:t>
            </a:r>
            <a:r>
              <a:rPr lang="en-US" sz="900" b="0" dirty="0">
                <a:solidFill>
                  <a:srgbClr val="000000"/>
                </a:solidFill>
                <a:latin typeface="Microsoft YaHei"/>
              </a:rPr>
              <a:t>1</a:t>
            </a:r>
            <a:endParaRPr sz="900" b="0" dirty="0">
              <a:solidFill>
                <a:srgbClr val="000000"/>
              </a:solidFill>
              <a:latin typeface="Microsoft YaHei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7B26268-1082-491E-0A20-B85602B07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4666" y="993505"/>
            <a:ext cx="7091125" cy="51435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7FCA8D3-3876-D488-4CD1-1573F30192FA}"/>
              </a:ext>
            </a:extLst>
          </p:cNvPr>
          <p:cNvSpPr txBox="1"/>
          <p:nvPr/>
        </p:nvSpPr>
        <p:spPr>
          <a:xfrm>
            <a:off x="355598" y="993504"/>
            <a:ext cx="321733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前端是系统的监控和管理入口，面向监控查看人员、平台管理员和模型配置人员。前端不直接执行视频推理或数据库写入，而是通过 REST API 和 WebSocket 与云端交互</a:t>
            </a:r>
            <a:r>
              <a:rPr lang="zh-CN" altLang="en-US" dirty="0"/>
              <a:t>，</a:t>
            </a:r>
            <a:r>
              <a:rPr lang="zh-CN" altLang="zh-CN" dirty="0"/>
              <a:t>重点是实时画面、AI 结果、设备状态、模型配置、系统状态和历史数据。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8712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88C68-E3A2-4D8D-5962-99B9DD9A4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0BCD67-814B-0E72-9752-6691E85AF1F7}"/>
              </a:ext>
            </a:extLst>
          </p:cNvPr>
          <p:cNvSpPr txBox="1"/>
          <p:nvPr/>
        </p:nvSpPr>
        <p:spPr>
          <a:xfrm>
            <a:off x="502920" y="228600"/>
            <a:ext cx="18517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zh-CN" altLang="en-US" sz="2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边端</a:t>
            </a:r>
            <a:r>
              <a:rPr lang="zh-CN" altLang="en-US" sz="2600" b="1" dirty="0">
                <a:solidFill>
                  <a:srgbClr val="000000"/>
                </a:solidFill>
                <a:latin typeface="Microsoft YaHei"/>
                <a:ea typeface="微软雅黑" panose="020B0503020204020204" pitchFamily="34" charset="-122"/>
              </a:rPr>
              <a:t>模块</a:t>
            </a:r>
            <a:r>
              <a:rPr sz="2600" b="1" dirty="0">
                <a:solidFill>
                  <a:srgbClr val="000000"/>
                </a:solidFill>
                <a:latin typeface="Microsoft YaHei"/>
              </a:rPr>
              <a:t>图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C3719B-E0C1-D409-EACD-E386C35CFB87}"/>
              </a:ext>
            </a:extLst>
          </p:cNvPr>
          <p:cNvSpPr txBox="1"/>
          <p:nvPr/>
        </p:nvSpPr>
        <p:spPr>
          <a:xfrm>
            <a:off x="9150416" y="6515100"/>
            <a:ext cx="255390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dirty="0" err="1">
                <a:solidFill>
                  <a:srgbClr val="000000"/>
                </a:solidFill>
                <a:latin typeface="Microsoft YaHei"/>
              </a:rPr>
              <a:t>需求分析报告</a:t>
            </a:r>
            <a:r>
              <a:rPr sz="900" b="0" dirty="0">
                <a:solidFill>
                  <a:srgbClr val="000000"/>
                </a:solidFill>
                <a:latin typeface="Microsoft YaHei"/>
              </a:rPr>
              <a:t> V1.0 / </a:t>
            </a:r>
            <a:r>
              <a:rPr sz="900" b="0" dirty="0" err="1">
                <a:solidFill>
                  <a:srgbClr val="000000"/>
                </a:solidFill>
                <a:latin typeface="Microsoft YaHei"/>
              </a:rPr>
              <a:t>系统设计方案</a:t>
            </a:r>
            <a:r>
              <a:rPr sz="900" b="0" dirty="0">
                <a:solidFill>
                  <a:srgbClr val="000000"/>
                </a:solidFill>
                <a:latin typeface="Microsoft YaHei"/>
              </a:rPr>
              <a:t> V1.0    1</a:t>
            </a:r>
            <a:r>
              <a:rPr lang="en-US" sz="900" b="0" dirty="0">
                <a:solidFill>
                  <a:srgbClr val="000000"/>
                </a:solidFill>
                <a:latin typeface="Microsoft YaHei"/>
              </a:rPr>
              <a:t>2</a:t>
            </a:r>
            <a:endParaRPr sz="900" b="0" dirty="0">
              <a:solidFill>
                <a:srgbClr val="000000"/>
              </a:solidFill>
              <a:latin typeface="Microsoft YaHei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80E3A3F-67B4-6721-78FC-14241112B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496" y="2370033"/>
            <a:ext cx="10614897" cy="298936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808C5A80-9C17-302F-BA25-F7B48FB19C58}"/>
              </a:ext>
            </a:extLst>
          </p:cNvPr>
          <p:cNvSpPr txBox="1"/>
          <p:nvPr/>
        </p:nvSpPr>
        <p:spPr>
          <a:xfrm>
            <a:off x="523712" y="1036935"/>
            <a:ext cx="968708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边端不承担重型 AI 推理和历史数据管理，其核心职责是采集视频、传输视频、注册设备和上报状态。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1643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7F9E5-81ED-975A-8C35-2C4EDADDD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87C6C0-EDFB-990B-718E-C322B8780316}"/>
              </a:ext>
            </a:extLst>
          </p:cNvPr>
          <p:cNvSpPr txBox="1"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Microsoft YaHei"/>
              </a:rPr>
              <a:t>ER 图与核心数据表设计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B985EE-A01E-EECE-F55E-2DA4F655B937}"/>
              </a:ext>
            </a:extLst>
          </p:cNvPr>
          <p:cNvSpPr/>
          <p:nvPr/>
        </p:nvSpPr>
        <p:spPr>
          <a:xfrm>
            <a:off x="2971800" y="1097280"/>
            <a:ext cx="2935224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80" b="1">
                <a:solidFill>
                  <a:srgbClr val="000000"/>
                </a:solidFill>
                <a:latin typeface="Microsoft YaHei"/>
              </a:rPr>
              <a:t>表名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ABA436-BA46-4421-993D-6D2F7D4D4A85}"/>
              </a:ext>
            </a:extLst>
          </p:cNvPr>
          <p:cNvSpPr/>
          <p:nvPr/>
        </p:nvSpPr>
        <p:spPr>
          <a:xfrm>
            <a:off x="5806440" y="1097280"/>
            <a:ext cx="2935224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80" b="1">
                <a:solidFill>
                  <a:srgbClr val="000000"/>
                </a:solidFill>
                <a:latin typeface="Microsoft YaHei"/>
              </a:rPr>
              <a:t>用途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6F7539-00F1-273E-01C3-BB5064E797F5}"/>
              </a:ext>
            </a:extLst>
          </p:cNvPr>
          <p:cNvSpPr/>
          <p:nvPr/>
        </p:nvSpPr>
        <p:spPr>
          <a:xfrm>
            <a:off x="2971800" y="1463040"/>
            <a:ext cx="2935224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80" b="0">
                <a:solidFill>
                  <a:srgbClr val="000000"/>
                </a:solidFill>
                <a:latin typeface="Microsoft YaHei"/>
              </a:rPr>
              <a:t>devices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909355-A201-6B38-9C4B-42AD0D398811}"/>
              </a:ext>
            </a:extLst>
          </p:cNvPr>
          <p:cNvSpPr/>
          <p:nvPr/>
        </p:nvSpPr>
        <p:spPr>
          <a:xfrm>
            <a:off x="5806440" y="1463040"/>
            <a:ext cx="2935224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80" b="0">
                <a:solidFill>
                  <a:srgbClr val="000000"/>
                </a:solidFill>
                <a:latin typeface="Microsoft YaHei"/>
              </a:rPr>
              <a:t>存储边端设备信息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0F8A0-025E-422F-8C4F-8BF91D6AC9F1}"/>
              </a:ext>
            </a:extLst>
          </p:cNvPr>
          <p:cNvSpPr/>
          <p:nvPr/>
        </p:nvSpPr>
        <p:spPr>
          <a:xfrm>
            <a:off x="2971800" y="1828800"/>
            <a:ext cx="2935224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80" b="0">
                <a:solidFill>
                  <a:srgbClr val="000000"/>
                </a:solidFill>
                <a:latin typeface="Microsoft YaHei"/>
              </a:rPr>
              <a:t>video_sources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99966D-EF35-950D-F47D-28E8A580113A}"/>
              </a:ext>
            </a:extLst>
          </p:cNvPr>
          <p:cNvSpPr/>
          <p:nvPr/>
        </p:nvSpPr>
        <p:spPr>
          <a:xfrm>
            <a:off x="5806440" y="1828800"/>
            <a:ext cx="2935224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80" b="0">
                <a:solidFill>
                  <a:srgbClr val="000000"/>
                </a:solidFill>
                <a:latin typeface="Microsoft YaHei"/>
              </a:rPr>
              <a:t>存储实时流和上传视频信息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E07172-AB7A-522B-3237-660603F59FF5}"/>
              </a:ext>
            </a:extLst>
          </p:cNvPr>
          <p:cNvSpPr/>
          <p:nvPr/>
        </p:nvSpPr>
        <p:spPr>
          <a:xfrm>
            <a:off x="2971800" y="2194560"/>
            <a:ext cx="2935224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80" b="0">
                <a:solidFill>
                  <a:srgbClr val="000000"/>
                </a:solidFill>
                <a:latin typeface="Microsoft YaHei"/>
              </a:rPr>
              <a:t>analysis_tasks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0F91A6-F5F7-895A-5579-F1A198E9E74F}"/>
              </a:ext>
            </a:extLst>
          </p:cNvPr>
          <p:cNvSpPr/>
          <p:nvPr/>
        </p:nvSpPr>
        <p:spPr>
          <a:xfrm>
            <a:off x="5806440" y="2194560"/>
            <a:ext cx="2935224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80" b="0">
                <a:solidFill>
                  <a:srgbClr val="000000"/>
                </a:solidFill>
                <a:latin typeface="Microsoft YaHei"/>
              </a:rPr>
              <a:t>存储视频分析任务信息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6F97C5-4C88-6C69-B7CD-F6D79A71DFED}"/>
              </a:ext>
            </a:extLst>
          </p:cNvPr>
          <p:cNvSpPr/>
          <p:nvPr/>
        </p:nvSpPr>
        <p:spPr>
          <a:xfrm>
            <a:off x="2971800" y="2560320"/>
            <a:ext cx="2935224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80" b="0">
                <a:solidFill>
                  <a:srgbClr val="000000"/>
                </a:solidFill>
                <a:latin typeface="Microsoft YaHei"/>
              </a:rPr>
              <a:t>model_configs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0719D7-F36B-AB43-1B93-A5C3D220C987}"/>
              </a:ext>
            </a:extLst>
          </p:cNvPr>
          <p:cNvSpPr/>
          <p:nvPr/>
        </p:nvSpPr>
        <p:spPr>
          <a:xfrm>
            <a:off x="5806440" y="2560320"/>
            <a:ext cx="2935224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80" b="0">
                <a:solidFill>
                  <a:srgbClr val="000000"/>
                </a:solidFill>
                <a:latin typeface="Microsoft YaHei"/>
              </a:rPr>
              <a:t>存储模型配置和运行参数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BA6A03-2B59-6E9D-E999-7CB4C931F778}"/>
              </a:ext>
            </a:extLst>
          </p:cNvPr>
          <p:cNvSpPr/>
          <p:nvPr/>
        </p:nvSpPr>
        <p:spPr>
          <a:xfrm>
            <a:off x="2971800" y="2926080"/>
            <a:ext cx="2935224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80" b="0">
                <a:solidFill>
                  <a:srgbClr val="000000"/>
                </a:solidFill>
                <a:latin typeface="Microsoft YaHei"/>
              </a:rPr>
              <a:t>whitelist_vehicles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456EE8-F836-F424-BDCB-9CDFB810ED23}"/>
              </a:ext>
            </a:extLst>
          </p:cNvPr>
          <p:cNvSpPr/>
          <p:nvPr/>
        </p:nvSpPr>
        <p:spPr>
          <a:xfrm>
            <a:off x="5806440" y="2926080"/>
            <a:ext cx="2935224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80" b="0">
                <a:solidFill>
                  <a:srgbClr val="000000"/>
                </a:solidFill>
                <a:latin typeface="Microsoft YaHei"/>
              </a:rPr>
              <a:t>存储白名单车辆库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BB757A-8196-F332-FE5A-A4AF264ED095}"/>
              </a:ext>
            </a:extLst>
          </p:cNvPr>
          <p:cNvSpPr/>
          <p:nvPr/>
        </p:nvSpPr>
        <p:spPr>
          <a:xfrm>
            <a:off x="2971800" y="3291840"/>
            <a:ext cx="2935224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80" b="0">
                <a:solidFill>
                  <a:srgbClr val="000000"/>
                </a:solidFill>
                <a:latin typeface="Microsoft YaHei"/>
              </a:rPr>
              <a:t>detection_results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DF7727-2B36-A389-A177-0C0EA2FD7718}"/>
              </a:ext>
            </a:extLst>
          </p:cNvPr>
          <p:cNvSpPr/>
          <p:nvPr/>
        </p:nvSpPr>
        <p:spPr>
          <a:xfrm>
            <a:off x="5806440" y="3291840"/>
            <a:ext cx="2935224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80" b="0">
                <a:solidFill>
                  <a:srgbClr val="000000"/>
                </a:solidFill>
                <a:latin typeface="Microsoft YaHei"/>
              </a:rPr>
              <a:t>存储通用检测结果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973023-B86C-C0D3-C42B-38533B7A1E50}"/>
              </a:ext>
            </a:extLst>
          </p:cNvPr>
          <p:cNvSpPr/>
          <p:nvPr/>
        </p:nvSpPr>
        <p:spPr>
          <a:xfrm>
            <a:off x="2971800" y="3657600"/>
            <a:ext cx="2935224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80" b="0">
                <a:solidFill>
                  <a:srgbClr val="000000"/>
                </a:solidFill>
                <a:latin typeface="Microsoft YaHei"/>
              </a:rPr>
              <a:t>plate_records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3674B3-1EF4-303F-FC2D-A7D83BF78934}"/>
              </a:ext>
            </a:extLst>
          </p:cNvPr>
          <p:cNvSpPr/>
          <p:nvPr/>
        </p:nvSpPr>
        <p:spPr>
          <a:xfrm>
            <a:off x="5806440" y="3657600"/>
            <a:ext cx="2935224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80" b="0">
                <a:solidFill>
                  <a:srgbClr val="000000"/>
                </a:solidFill>
                <a:latin typeface="Microsoft YaHei"/>
              </a:rPr>
              <a:t>存储车牌识别和白名单比对记录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585CE9-46CC-21C7-D092-0325713297A3}"/>
              </a:ext>
            </a:extLst>
          </p:cNvPr>
          <p:cNvSpPr/>
          <p:nvPr/>
        </p:nvSpPr>
        <p:spPr>
          <a:xfrm>
            <a:off x="2971800" y="4023360"/>
            <a:ext cx="2935224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80" b="0">
                <a:solidFill>
                  <a:srgbClr val="000000"/>
                </a:solidFill>
                <a:latin typeface="Microsoft YaHei"/>
              </a:rPr>
              <a:t>congestion_stats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FC90AC5-477A-EAB6-3929-C60F09C68959}"/>
              </a:ext>
            </a:extLst>
          </p:cNvPr>
          <p:cNvSpPr/>
          <p:nvPr/>
        </p:nvSpPr>
        <p:spPr>
          <a:xfrm>
            <a:off x="5806440" y="4023360"/>
            <a:ext cx="2935224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80" b="0">
                <a:solidFill>
                  <a:srgbClr val="000000"/>
                </a:solidFill>
                <a:latin typeface="Microsoft YaHei"/>
              </a:rPr>
              <a:t>存储拥堵统计和热力图数据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0FBA29B-774C-E4DF-D47D-ED60D16DDB9E}"/>
              </a:ext>
            </a:extLst>
          </p:cNvPr>
          <p:cNvSpPr/>
          <p:nvPr/>
        </p:nvSpPr>
        <p:spPr>
          <a:xfrm>
            <a:off x="2971800" y="4389120"/>
            <a:ext cx="2935224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80" b="0">
                <a:solidFill>
                  <a:srgbClr val="000000"/>
                </a:solidFill>
                <a:latin typeface="Microsoft YaHei"/>
              </a:rPr>
              <a:t>parking_events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B01C4EC-109F-DB57-DC0C-0FA5E3327C81}"/>
              </a:ext>
            </a:extLst>
          </p:cNvPr>
          <p:cNvSpPr/>
          <p:nvPr/>
        </p:nvSpPr>
        <p:spPr>
          <a:xfrm>
            <a:off x="5806440" y="4389120"/>
            <a:ext cx="2935224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80" b="0">
                <a:solidFill>
                  <a:srgbClr val="000000"/>
                </a:solidFill>
                <a:latin typeface="Microsoft YaHei"/>
              </a:rPr>
              <a:t>存储禁停区域车辆停留和告警事件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37404A-7D56-75E6-44CA-A10D01A3E069}"/>
              </a:ext>
            </a:extLst>
          </p:cNvPr>
          <p:cNvSpPr/>
          <p:nvPr/>
        </p:nvSpPr>
        <p:spPr>
          <a:xfrm>
            <a:off x="2971800" y="4754880"/>
            <a:ext cx="2935224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80" b="0">
                <a:solidFill>
                  <a:srgbClr val="000000"/>
                </a:solidFill>
                <a:latin typeface="Microsoft YaHei"/>
              </a:rPr>
              <a:t>anomaly_events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2D332CB-F6E3-2772-715D-B6CD82A3F847}"/>
              </a:ext>
            </a:extLst>
          </p:cNvPr>
          <p:cNvSpPr/>
          <p:nvPr/>
        </p:nvSpPr>
        <p:spPr>
          <a:xfrm>
            <a:off x="5806440" y="4754880"/>
            <a:ext cx="2935224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80" b="0">
                <a:solidFill>
                  <a:srgbClr val="000000"/>
                </a:solidFill>
                <a:latin typeface="Microsoft YaHei"/>
              </a:rPr>
              <a:t>存储道路异常检测事件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A6130F0-8FAF-CE74-8543-BC59E907B24E}"/>
              </a:ext>
            </a:extLst>
          </p:cNvPr>
          <p:cNvSpPr/>
          <p:nvPr/>
        </p:nvSpPr>
        <p:spPr>
          <a:xfrm>
            <a:off x="2971800" y="5120640"/>
            <a:ext cx="2935224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80" b="0">
                <a:solidFill>
                  <a:srgbClr val="000000"/>
                </a:solidFill>
                <a:latin typeface="Microsoft YaHei"/>
              </a:rPr>
              <a:t>system_metrics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38D5612-CB73-030A-59CE-5C122EE0A332}"/>
              </a:ext>
            </a:extLst>
          </p:cNvPr>
          <p:cNvSpPr/>
          <p:nvPr/>
        </p:nvSpPr>
        <p:spPr>
          <a:xfrm>
            <a:off x="5806440" y="5120640"/>
            <a:ext cx="2935224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80" b="0">
                <a:solidFill>
                  <a:srgbClr val="000000"/>
                </a:solidFill>
                <a:latin typeface="Microsoft YaHei"/>
              </a:rPr>
              <a:t>存储系统资源和运行状态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11C7295-AE64-A025-7D25-990E20EB34B8}"/>
              </a:ext>
            </a:extLst>
          </p:cNvPr>
          <p:cNvSpPr/>
          <p:nvPr/>
        </p:nvSpPr>
        <p:spPr>
          <a:xfrm>
            <a:off x="2971800" y="5486400"/>
            <a:ext cx="2935224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80" b="0">
                <a:solidFill>
                  <a:srgbClr val="000000"/>
                </a:solidFill>
                <a:latin typeface="Microsoft YaHei"/>
              </a:rPr>
              <a:t>operation_logs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F0BB9A4-2685-C055-AB9C-956782883D64}"/>
              </a:ext>
            </a:extLst>
          </p:cNvPr>
          <p:cNvSpPr/>
          <p:nvPr/>
        </p:nvSpPr>
        <p:spPr>
          <a:xfrm>
            <a:off x="5806440" y="5486400"/>
            <a:ext cx="2935224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80" b="0">
                <a:solidFill>
                  <a:srgbClr val="000000"/>
                </a:solidFill>
                <a:latin typeface="Microsoft YaHei"/>
              </a:rPr>
              <a:t>存储关键操作和异常日志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56E7518-121F-9BDD-29E8-4BEC2887430C}"/>
              </a:ext>
            </a:extLst>
          </p:cNvPr>
          <p:cNvSpPr txBox="1"/>
          <p:nvPr/>
        </p:nvSpPr>
        <p:spPr>
          <a:xfrm>
            <a:off x="9132783" y="6446520"/>
            <a:ext cx="257153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dirty="0" err="1">
                <a:solidFill>
                  <a:srgbClr val="000000"/>
                </a:solidFill>
                <a:latin typeface="Microsoft YaHei"/>
              </a:rPr>
              <a:t>需求分析报告</a:t>
            </a:r>
            <a:r>
              <a:rPr sz="900" b="0" dirty="0">
                <a:solidFill>
                  <a:srgbClr val="000000"/>
                </a:solidFill>
                <a:latin typeface="Microsoft YaHei"/>
              </a:rPr>
              <a:t> V1.0 / </a:t>
            </a:r>
            <a:r>
              <a:rPr sz="900" b="0" dirty="0" err="1">
                <a:solidFill>
                  <a:srgbClr val="000000"/>
                </a:solidFill>
                <a:latin typeface="Microsoft YaHei"/>
              </a:rPr>
              <a:t>系统设计方案</a:t>
            </a:r>
            <a:r>
              <a:rPr sz="900" b="0" dirty="0">
                <a:solidFill>
                  <a:srgbClr val="000000"/>
                </a:solidFill>
                <a:latin typeface="Microsoft YaHei"/>
              </a:rPr>
              <a:t> V1.0    1</a:t>
            </a:r>
            <a:r>
              <a:rPr lang="en-US" sz="900" dirty="0">
                <a:solidFill>
                  <a:srgbClr val="000000"/>
                </a:solidFill>
                <a:latin typeface="Microsoft YaHei"/>
              </a:rPr>
              <a:t>3</a:t>
            </a:r>
            <a:endParaRPr sz="900" b="0" dirty="0">
              <a:solidFill>
                <a:srgbClr val="000000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877424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Microsoft YaHei"/>
              </a:rPr>
              <a:t>ER 图与核心数据表设计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32782" y="6446520"/>
            <a:ext cx="257153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dirty="0" err="1">
                <a:solidFill>
                  <a:srgbClr val="000000"/>
                </a:solidFill>
                <a:latin typeface="Microsoft YaHei"/>
              </a:rPr>
              <a:t>需求分析报告</a:t>
            </a:r>
            <a:r>
              <a:rPr sz="900" b="0" dirty="0">
                <a:solidFill>
                  <a:srgbClr val="000000"/>
                </a:solidFill>
                <a:latin typeface="Microsoft YaHei"/>
              </a:rPr>
              <a:t> V1.0 / </a:t>
            </a:r>
            <a:r>
              <a:rPr sz="900" b="0" dirty="0" err="1">
                <a:solidFill>
                  <a:srgbClr val="000000"/>
                </a:solidFill>
                <a:latin typeface="Microsoft YaHei"/>
              </a:rPr>
              <a:t>系统设计方案</a:t>
            </a:r>
            <a:r>
              <a:rPr sz="900" b="0" dirty="0">
                <a:solidFill>
                  <a:srgbClr val="000000"/>
                </a:solidFill>
                <a:latin typeface="Microsoft YaHei"/>
              </a:rPr>
              <a:t> V1.0    1</a:t>
            </a:r>
            <a:r>
              <a:rPr lang="en-US" sz="900" b="0" dirty="0">
                <a:solidFill>
                  <a:srgbClr val="000000"/>
                </a:solidFill>
                <a:latin typeface="Microsoft YaHei"/>
              </a:rPr>
              <a:t>4</a:t>
            </a:r>
            <a:endParaRPr sz="900" b="0" dirty="0">
              <a:solidFill>
                <a:srgbClr val="000000"/>
              </a:solidFill>
              <a:latin typeface="Microsoft YaHei"/>
            </a:endParaRP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55A234AD-BCEA-D19B-8D5D-CC34B4525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846" y="993789"/>
            <a:ext cx="9931188" cy="532762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Microsoft YaHei"/>
              </a:rPr>
              <a:t>总结：决策驱动系统设计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972800" cy="2595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dirty="0" err="1">
                <a:solidFill>
                  <a:srgbClr val="000000"/>
                </a:solidFill>
                <a:latin typeface="Microsoft YaHei"/>
              </a:rPr>
              <a:t>需求层面：系统围绕</a:t>
            </a:r>
            <a:r>
              <a:rPr sz="1700" b="0" dirty="0">
                <a:solidFill>
                  <a:srgbClr val="000000"/>
                </a:solidFill>
                <a:latin typeface="Microsoft YaHei"/>
              </a:rPr>
              <a:t> 704 </a:t>
            </a:r>
            <a:r>
              <a:rPr sz="1700" b="0" dirty="0" err="1">
                <a:solidFill>
                  <a:srgbClr val="000000"/>
                </a:solidFill>
                <a:latin typeface="Microsoft YaHei"/>
              </a:rPr>
              <a:t>智慧交通沙盘，覆盖车牌识别、拥堵热力图、禁停跟踪、道路异常检测和平台管理能力</a:t>
            </a:r>
            <a:r>
              <a:rPr sz="1700" b="0" dirty="0">
                <a:solidFill>
                  <a:srgbClr val="000000"/>
                </a:solidFill>
                <a:latin typeface="Microsoft YaHei"/>
              </a:rPr>
              <a:t>。</a:t>
            </a:r>
          </a:p>
          <a:p>
            <a:pPr>
              <a:spcAft>
                <a:spcPts val="800"/>
              </a:spcAft>
            </a:pPr>
            <a:r>
              <a:rPr sz="1700" b="0" dirty="0" err="1">
                <a:solidFill>
                  <a:srgbClr val="000000"/>
                </a:solidFill>
                <a:latin typeface="Microsoft YaHei"/>
              </a:rPr>
              <a:t>架构层面：采用云边端协同的分层模块化架构，明确边端采集、云端分析、前端展示的职责边界</a:t>
            </a:r>
            <a:r>
              <a:rPr sz="1700" b="0" dirty="0">
                <a:solidFill>
                  <a:srgbClr val="000000"/>
                </a:solidFill>
                <a:latin typeface="Microsoft YaHei"/>
              </a:rPr>
              <a:t>。</a:t>
            </a:r>
          </a:p>
          <a:p>
            <a:pPr>
              <a:spcAft>
                <a:spcPts val="800"/>
              </a:spcAft>
            </a:pPr>
            <a:r>
              <a:rPr sz="1700" b="0" dirty="0" err="1">
                <a:solidFill>
                  <a:srgbClr val="000000"/>
                </a:solidFill>
                <a:latin typeface="Microsoft YaHei"/>
              </a:rPr>
              <a:t>技术层面：通过</a:t>
            </a:r>
            <a:r>
              <a:rPr sz="1700" b="0" dirty="0">
                <a:solidFill>
                  <a:srgbClr val="000000"/>
                </a:solidFill>
                <a:latin typeface="Microsoft YaHei"/>
              </a:rPr>
              <a:t> RTSP/RTMP、REST </a:t>
            </a:r>
            <a:r>
              <a:rPr sz="1700" b="0" dirty="0" err="1">
                <a:solidFill>
                  <a:srgbClr val="000000"/>
                </a:solidFill>
                <a:latin typeface="Microsoft YaHei"/>
              </a:rPr>
              <a:t>API、WebSocket、HTTP</a:t>
            </a:r>
            <a:r>
              <a:rPr sz="1700" b="0" dirty="0">
                <a:solidFill>
                  <a:srgbClr val="000000"/>
                </a:solidFill>
                <a:latin typeface="Microsoft YaHei"/>
              </a:rPr>
              <a:t> </a:t>
            </a:r>
            <a:r>
              <a:rPr sz="1700" b="0" dirty="0" err="1">
                <a:solidFill>
                  <a:srgbClr val="000000"/>
                </a:solidFill>
                <a:latin typeface="Microsoft YaHei"/>
              </a:rPr>
              <a:t>上传组合，支撑视频流、业务管理和实时结果推送</a:t>
            </a:r>
            <a:r>
              <a:rPr sz="1700" b="0" dirty="0">
                <a:solidFill>
                  <a:srgbClr val="000000"/>
                </a:solidFill>
                <a:latin typeface="Microsoft YaHei"/>
              </a:rPr>
              <a:t>。</a:t>
            </a:r>
          </a:p>
          <a:p>
            <a:pPr>
              <a:spcAft>
                <a:spcPts val="800"/>
              </a:spcAft>
            </a:pPr>
            <a:r>
              <a:rPr sz="1700" b="0" dirty="0" err="1">
                <a:solidFill>
                  <a:srgbClr val="000000"/>
                </a:solidFill>
                <a:latin typeface="Microsoft YaHei"/>
              </a:rPr>
              <a:t>算法层面：使用</a:t>
            </a:r>
            <a:r>
              <a:rPr sz="1700" b="0" dirty="0">
                <a:solidFill>
                  <a:srgbClr val="000000"/>
                </a:solidFill>
                <a:latin typeface="Microsoft YaHei"/>
              </a:rPr>
              <a:t> </a:t>
            </a:r>
            <a:r>
              <a:rPr sz="1700" b="0" dirty="0" err="1">
                <a:solidFill>
                  <a:srgbClr val="000000"/>
                </a:solidFill>
                <a:latin typeface="Microsoft YaHei"/>
              </a:rPr>
              <a:t>YOLO、PaddleOCR、ByteTrack、FastFlow</a:t>
            </a:r>
            <a:r>
              <a:rPr sz="1700" b="0" dirty="0">
                <a:solidFill>
                  <a:srgbClr val="000000"/>
                </a:solidFill>
                <a:latin typeface="Microsoft YaHei"/>
              </a:rPr>
              <a:t> </a:t>
            </a:r>
            <a:r>
              <a:rPr sz="1700" b="0" dirty="0" err="1">
                <a:solidFill>
                  <a:srgbClr val="000000"/>
                </a:solidFill>
                <a:latin typeface="Microsoft YaHei"/>
              </a:rPr>
              <a:t>和规则兜底，兼顾识别能力、实时性、可解释性和演示稳定性</a:t>
            </a:r>
            <a:r>
              <a:rPr sz="1700" b="0" dirty="0">
                <a:solidFill>
                  <a:srgbClr val="000000"/>
                </a:solidFill>
                <a:latin typeface="Microsoft YaHei"/>
              </a:rPr>
              <a:t>。</a:t>
            </a:r>
          </a:p>
          <a:p>
            <a:pPr>
              <a:spcAft>
                <a:spcPts val="800"/>
              </a:spcAft>
            </a:pPr>
            <a:r>
              <a:rPr sz="1700" b="0" dirty="0" err="1">
                <a:solidFill>
                  <a:srgbClr val="000000"/>
                </a:solidFill>
                <a:latin typeface="Microsoft YaHei"/>
              </a:rPr>
              <a:t>验收层面：即使网络、GPU</a:t>
            </a:r>
            <a:r>
              <a:rPr sz="1700" b="0" dirty="0">
                <a:solidFill>
                  <a:srgbClr val="000000"/>
                </a:solidFill>
                <a:latin typeface="Microsoft YaHei"/>
              </a:rPr>
              <a:t> </a:t>
            </a:r>
            <a:r>
              <a:rPr sz="1700" b="0" dirty="0" err="1">
                <a:solidFill>
                  <a:srgbClr val="000000"/>
                </a:solidFill>
                <a:latin typeface="Microsoft YaHei"/>
              </a:rPr>
              <a:t>或模型不稳定，也能通过视频</a:t>
            </a:r>
            <a:r>
              <a:rPr lang="zh-CN" altLang="en-US" sz="1700" dirty="0">
                <a:solidFill>
                  <a:srgbClr val="000000"/>
                </a:solidFill>
                <a:latin typeface="Microsoft YaHei"/>
              </a:rPr>
              <a:t>段</a:t>
            </a:r>
            <a:r>
              <a:rPr sz="1700" b="0" dirty="0" err="1">
                <a:solidFill>
                  <a:srgbClr val="000000"/>
                </a:solidFill>
                <a:latin typeface="Microsoft YaHei"/>
              </a:rPr>
              <a:t>上传和模拟结果</a:t>
            </a:r>
            <a:r>
              <a:rPr lang="zh-CN" altLang="en-US" sz="1700" b="0" dirty="0">
                <a:solidFill>
                  <a:srgbClr val="000000"/>
                </a:solidFill>
                <a:latin typeface="Microsoft YaHei"/>
              </a:rPr>
              <a:t>。</a:t>
            </a:r>
            <a:endParaRPr sz="1700" b="0" dirty="0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17041" y="6446520"/>
            <a:ext cx="250421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dirty="0" err="1">
                <a:solidFill>
                  <a:srgbClr val="000000"/>
                </a:solidFill>
                <a:latin typeface="Microsoft YaHei"/>
              </a:rPr>
              <a:t>需求分析报告</a:t>
            </a:r>
            <a:r>
              <a:rPr sz="900" b="0" dirty="0">
                <a:solidFill>
                  <a:srgbClr val="000000"/>
                </a:solidFill>
                <a:latin typeface="Microsoft YaHei"/>
              </a:rPr>
              <a:t> V1.0 / </a:t>
            </a:r>
            <a:r>
              <a:rPr sz="900" b="0" dirty="0" err="1">
                <a:solidFill>
                  <a:srgbClr val="000000"/>
                </a:solidFill>
                <a:latin typeface="Microsoft YaHei"/>
              </a:rPr>
              <a:t>系统设计方案</a:t>
            </a:r>
            <a:r>
              <a:rPr sz="900" b="0" dirty="0">
                <a:solidFill>
                  <a:srgbClr val="000000"/>
                </a:solidFill>
                <a:latin typeface="Microsoft YaHei"/>
              </a:rPr>
              <a:t> V1.0    1</a:t>
            </a:r>
            <a:r>
              <a:rPr lang="en-US" sz="900" b="0" dirty="0">
                <a:solidFill>
                  <a:srgbClr val="000000"/>
                </a:solidFill>
                <a:latin typeface="Microsoft YaHei"/>
              </a:rPr>
              <a:t>5</a:t>
            </a:r>
            <a:endParaRPr sz="900" b="0" dirty="0">
              <a:solidFill>
                <a:srgbClr val="000000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1217</Words>
  <Application>Microsoft Office PowerPoint</Application>
  <PresentationFormat>宽屏</PresentationFormat>
  <Paragraphs>131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Microsoft YaHei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凡瑜 刘</cp:lastModifiedBy>
  <cp:revision>3</cp:revision>
  <dcterms:created xsi:type="dcterms:W3CDTF">2013-01-27T09:14:16Z</dcterms:created>
  <dcterms:modified xsi:type="dcterms:W3CDTF">2026-07-07T16:06:41Z</dcterms:modified>
  <cp:category/>
</cp:coreProperties>
</file>